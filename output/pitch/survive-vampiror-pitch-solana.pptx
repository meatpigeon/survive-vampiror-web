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a0982d0dd34144" /><Relationship Type="http://schemas.openxmlformats.org/officeDocument/2006/relationships/extended-properties" Target="/docProps/app.xml" Id="R5c8bf862406b49bf" /><Relationship Type="http://schemas.openxmlformats.org/officeDocument/2006/relationships/officeDocument" Target="/ppt/presentation.xml" Id="Rb72ce1ba309f4909" /></Relationships>
</file>

<file path=ppt/presentation.xml><?xml version="1.0" encoding="utf-8"?>
<p:presentation xmlns:p="http://schemas.openxmlformats.org/presentationml/2006/main">
  <p:sldMasterIdLst>
    <p:sldMasterId xmlns:r="http://schemas.openxmlformats.org/officeDocument/2006/relationships" id="2147483648" r:id="R34577899e97d461f"/>
  </p:sldMasterIdLst>
  <p:notesMasterIdLst>
    <p:notesMasterId xmlns:r="http://schemas.openxmlformats.org/officeDocument/2006/relationships" r:id="R632f43a487784b22"/>
  </p:notesMasterIdLst>
  <p:sldIdLst>
    <p:sldId xmlns:r="http://schemas.openxmlformats.org/officeDocument/2006/relationships" id="256" r:id="R6a18283d3a67467b"/>
    <p:sldId xmlns:r="http://schemas.openxmlformats.org/officeDocument/2006/relationships" id="257" r:id="R96f341412b794394"/>
    <p:sldId xmlns:r="http://schemas.openxmlformats.org/officeDocument/2006/relationships" id="258" r:id="R8f73010c790844cf"/>
    <p:sldId xmlns:r="http://schemas.openxmlformats.org/officeDocument/2006/relationships" id="259" r:id="Rca50b0bda50042b0"/>
    <p:sldId xmlns:r="http://schemas.openxmlformats.org/officeDocument/2006/relationships" id="260" r:id="R3caa7f75378244d2"/>
    <p:sldId xmlns:r="http://schemas.openxmlformats.org/officeDocument/2006/relationships" id="261" r:id="R65eaa882d12b43c4"/>
    <p:sldId xmlns:r="http://schemas.openxmlformats.org/officeDocument/2006/relationships" id="262" r:id="R7c62d91df4a34b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e7d4e68429431d" /><Relationship Type="http://schemas.openxmlformats.org/officeDocument/2006/relationships/slideMaster" Target="/ppt/slideMasters/slideMaster1.xml" Id="R34577899e97d461f" /><Relationship Type="http://schemas.openxmlformats.org/officeDocument/2006/relationships/notesMaster" Target="/ppt/notesMasters/notesMaster1.xml" Id="R632f43a487784b22" /><Relationship Type="http://schemas.openxmlformats.org/officeDocument/2006/relationships/presProps" Target="/ppt/presProps.xml" Id="Rc596dee147d449a8" /><Relationship Type="http://schemas.openxmlformats.org/officeDocument/2006/relationships/tableStyles" Target="/ppt/tableStyles.xml" Id="R907b5b4eb52445c9" /><Relationship Type="http://schemas.openxmlformats.org/officeDocument/2006/relationships/slide" Target="/ppt/slides/slide1.xml" Id="R6a18283d3a67467b" /><Relationship Type="http://schemas.openxmlformats.org/officeDocument/2006/relationships/slide" Target="/ppt/slides/slide2.xml" Id="R96f341412b794394" /><Relationship Type="http://schemas.openxmlformats.org/officeDocument/2006/relationships/slide" Target="/ppt/slides/slide3.xml" Id="R8f73010c790844cf" /><Relationship Type="http://schemas.openxmlformats.org/officeDocument/2006/relationships/slide" Target="/ppt/slides/slide4.xml" Id="Rca50b0bda50042b0" /><Relationship Type="http://schemas.openxmlformats.org/officeDocument/2006/relationships/slide" Target="/ppt/slides/slide5.xml" Id="R3caa7f75378244d2" /><Relationship Type="http://schemas.openxmlformats.org/officeDocument/2006/relationships/slide" Target="/ppt/slides/slide6.xml" Id="R65eaa882d12b43c4" /><Relationship Type="http://schemas.openxmlformats.org/officeDocument/2006/relationships/slide" Target="/ppt/slides/slide7.xml" Id="R7c62d91df4a34b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e20491f5ef4d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bb448a723648cb" /><Relationship Type="http://schemas.openxmlformats.org/officeDocument/2006/relationships/notesMaster" Target="/ppt/notesMasters/notesMaster1.xml" Id="Rb715ef35925a40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aca8db93c34fef" /><Relationship Type="http://schemas.openxmlformats.org/officeDocument/2006/relationships/notesMaster" Target="/ppt/notesMasters/notesMaster1.xml" Id="Rafaafccfc6da45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0fb4be9f194214" /><Relationship Type="http://schemas.openxmlformats.org/officeDocument/2006/relationships/notesMaster" Target="/ppt/notesMasters/notesMaster1.xml" Id="R0331610e2cab4a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657110c75446df" /><Relationship Type="http://schemas.openxmlformats.org/officeDocument/2006/relationships/notesMaster" Target="/ppt/notesMasters/notesMaster1.xml" Id="Rc7b1897e259146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99a1f0734c4d94" /><Relationship Type="http://schemas.openxmlformats.org/officeDocument/2006/relationships/notesMaster" Target="/ppt/notesMasters/notesMaster1.xml" Id="Rb02f22b6014841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50b0912c03462e" /><Relationship Type="http://schemas.openxmlformats.org/officeDocument/2006/relationships/notesMaster" Target="/ppt/notesMasters/notesMaster1.xml" Id="R3fa6de45b20543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8093d91d714ca8" /><Relationship Type="http://schemas.openxmlformats.org/officeDocument/2006/relationships/notesMaster" Target="/ppt/notesMasters/notesMaster1.xml" Id="R05d6d31616c04b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Survive Vampiror puts you in command of forty zombies. The goal is to carry your horde through five locations and conquer the kingdom. Cover art is an AI-generated promotional illustration, not gameplay footage.</a:t>
            </a:r>
          </a:p>
          <a:p xmlns:a="http://schemas.openxmlformats.org/drawingml/2006/main">
            <a:r>
              <a:t/>
            </a:r>
          </a:p>
          <a:p xmlns:a="http://schemas.openxmlformats.org/drawingml/2006/main">
            <a:r>
              <a:t>Source: https://github.com/meatPigeon/survive-vampiror-web, campaign implementation and release notes, 11 October 2026. Screenshots show the local development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decision is positioning. You move the whole group around the knight’s warnings, then close in while the defender recovers. Every permanent zombie you save carries into the next battle.</a:t>
            </a:r>
          </a:p>
          <a:p xmlns:a="http://schemas.openxmlformats.org/drawingml/2006/main">
            <a:r>
              <a:t/>
            </a:r>
          </a:p>
          <a:p xmlns:a="http://schemas.openxmlformats.org/drawingml/2006/main">
            <a:r>
              <a:t>Source: https://github.com/meatPigeon/survive-vampiror-web, campaign implementation and release notes, 11 October 2026. Screenshots show the local development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Recruitment gives you expendable allies without replacing the permanent horde’s importance. Mines consume temporary recruits, and other zombies can walk through them. Nine perks support different approaches.</a:t>
            </a:r>
          </a:p>
          <a:p xmlns:a="http://schemas.openxmlformats.org/drawingml/2006/main">
            <a:r>
              <a:t/>
            </a:r>
          </a:p>
          <a:p xmlns:a="http://schemas.openxmlformats.org/drawingml/2006/main">
            <a:r>
              <a:t>Source: https://github.com/meatPigeon/survive-vampiror-web, campaign implementation and release notes, 11 October 2026. Screenshots show the local development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campaign makes progress visible in the land itself. Each new arena brings a different defender and attack pattern. Irregular terrain, drifting clouds, flying creatures and occasional rain give the locations atmosphere.</a:t>
            </a:r>
          </a:p>
          <a:p xmlns:a="http://schemas.openxmlformats.org/drawingml/2006/main">
            <a:r>
              <a:t/>
            </a:r>
          </a:p>
          <a:p xmlns:a="http://schemas.openxmlformats.org/drawingml/2006/main">
            <a:r>
              <a:t>Source: https://github.com/meatPigeon/survive-vampiror-web, campaign implementation and release notes, 11 October 2026. Screenshots show the local development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game runs on the iDos host with Three.js and React. Players can continue a checkpoint and retry a location with the horde they brought into it. The release candidate passed 83 tests and real DEV save and Solana authentication checks. Version 8 is live. Physical device testing remains outstanding.</a:t>
            </a:r>
          </a:p>
          <a:p xmlns:a="http://schemas.openxmlformats.org/drawingml/2006/main">
            <a:r>
              <a:t/>
            </a:r>
          </a:p>
          <a:p xmlns:a="http://schemas.openxmlformats.org/drawingml/2006/main">
            <a:r>
              <a:t>Source: https://github.com/meatPigeon/survive-vampiror-web, campaign implementation and release notes, 11 October 2026. Screenshots show the local development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Solana Ed25519 signature authentication through the iDos SDK. Live DEV tests recover the same account in a fresh client and restore a paused forty-zombie checkpoint; invalid signatures are rejected. Saves are private off-chain iDos data. Guest and wallet accounts have separate saves. Standalone pages use installed Wallet Standard wallets; embedded games use the iDos bridge. No transaction or token purchase is required. HORDE mainnet mint verified via the Solana mainnet RPC: 9UB6DJsQncQoxQrBW8a6HyyDAfeWKoYN7WaHmukpidos. Source: https://solscan.io/token/9UB6DJsQncQoxQrBW8a6HyyDAfeWKoYN7WaHmukpidos . The game does not grant token rewards.</a:t>
            </a:r>
          </a:p>
          <a:p xmlns:a="http://schemas.openxmlformats.org/drawingml/2006/main">
            <a:r>
              <a:t/>
            </a:r>
          </a:p>
          <a:p xmlns:a="http://schemas.openxmlformats.org/drawingml/2006/main">
            <a:r>
              <a:t>Source: https://github.com/meatPigeon/survive-vampiror-web, campaign implementation and release notes, 11 October 2026. Screenshots show the local development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next goal is to make the campaign hold up across devices and learn from real players before expanding it. Play version 8 at https://idosgames.com/app/FYVPZFCO/ and review the public source. Hosted browser verification is pending a local site-permission change; the compiled artifact passed local browser checks.</a:t>
            </a:r>
          </a:p>
          <a:p xmlns:a="http://schemas.openxmlformats.org/drawingml/2006/main">
            <a:r>
              <a:t/>
            </a:r>
          </a:p>
          <a:p xmlns:a="http://schemas.openxmlformats.org/drawingml/2006/main">
            <a:r>
              <a:t>Source: https://github.com/meatPigeon/survive-vampiror-web, campaign implementation and release notes, 11 October 2026. Screenshots show the local development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166403633f4d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c371af2a304bc4" /><Relationship Type="http://schemas.openxmlformats.org/officeDocument/2006/relationships/slideLayout" Target="/ppt/slideLayouts/slideLayout1.xml" Id="R32d90b0c83dd47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d90b0c83dd47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061d0d1b65489d" /><Relationship Type="http://schemas.openxmlformats.org/officeDocument/2006/relationships/image" Target="/ppt/media/image.png" Id="R7ea96b62a3f54cb5" /><Relationship Type="http://schemas.openxmlformats.org/officeDocument/2006/relationships/notesSlide" Target="/ppt/notesSlides/notesSlide1.xml" Id="Rb5a32ee9d82c46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46d565928a4f51" /><Relationship Type="http://schemas.openxmlformats.org/officeDocument/2006/relationships/image" Target="/ppt/media/image.jpeg" Id="Rdcbbf7f9dc594fe7" /><Relationship Type="http://schemas.openxmlformats.org/officeDocument/2006/relationships/notesSlide" Target="/ppt/notesSlides/notesSlide2.xml" Id="R691ac0cbfda54f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6b6cf0f4ff54df1" /><Relationship Type="http://schemas.openxmlformats.org/officeDocument/2006/relationships/image" Target="/ppt/media/image2.jpeg" Id="R9e45b3fbe8cf48b4" /><Relationship Type="http://schemas.openxmlformats.org/officeDocument/2006/relationships/notesSlide" Target="/ppt/notesSlides/notesSlide3.xml" Id="Re4491c8ec2e440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3d9c2c72674b12" /><Relationship Type="http://schemas.openxmlformats.org/officeDocument/2006/relationships/image" Target="/ppt/media/image3.jpeg" Id="R7feb509770b8490c" /><Relationship Type="http://schemas.openxmlformats.org/officeDocument/2006/relationships/notesSlide" Target="/ppt/notesSlides/notesSlide4.xml" Id="R4af387470cee45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0fef0e9a0144be" /><Relationship Type="http://schemas.openxmlformats.org/officeDocument/2006/relationships/image" Target="/ppt/media/image4.jpeg" Id="Reb8e3b6873624912" /><Relationship Type="http://schemas.openxmlformats.org/officeDocument/2006/relationships/notesSlide" Target="/ppt/notesSlides/notesSlide5.xml" Id="R5ece7e0caf944f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a9c7d1199a74ca2" /><Relationship Type="http://schemas.openxmlformats.org/officeDocument/2006/relationships/notesSlide" Target="/ppt/notesSlides/notesSlide6.xml" Id="Rbcac03b4cf6d4e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9a0ac54ae64869" /><Relationship Type="http://schemas.openxmlformats.org/officeDocument/2006/relationships/notesSlide" Target="/ppt/notesSlides/notesSlide7.xml" Id="Recbb715120ce43f2" /></Relationships>
</file>

<file path=ppt/slides/slide1.xml><?xml version="1.0" encoding="utf-8"?>
<p:sld xmlns:p="http://schemas.openxmlformats.org/presentationml/2006/main">
  <p:cSld>
    <p:bg>
      <p:bgPr>
        <a:solidFill xmlns:a="http://schemas.openxmlformats.org/drawingml/2006/main">
          <a:srgbClr val="10251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7ea96b62a3f54cb5"/>
          <a:stretch xmlns:a="http://schemas.openxmlformats.org/drawingml/2006/main"/>
        </p:blipFill>
        <p:spPr>
          <a:xfrm xmlns:a="http://schemas.openxmlformats.org/drawingml/2006/main">
            <a:off x="4572000" y="1284736"/>
            <a:ext cx="7620000" cy="428852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006AEA9-A10C-45EC-AD18-DC2D222DF92B}"/>
              </a:ext>
            </a:extLst>
          </p:cNvPr>
          <p:cNvSpPr>
            <a:spLocks xmlns:a="http://schemas.openxmlformats.org/drawingml/2006/main" noGrp="1"/>
          </p:cNvSpPr>
          <p:nvPr/>
        </p:nvSpPr>
        <p:spPr>
          <a:xfrm xmlns:a="http://schemas.openxmlformats.org/drawingml/2006/main">
            <a:off x="523875" y="1095375"/>
            <a:ext cx="4476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0E8D2"/>
                </a:solidFill>
                <a:latin typeface="Noto Sans"/>
                <a:ea typeface="Noto Sans"/>
                <a:cs typeface="Noto Sans"/>
              </a:defRPr>
            </a:pPr>
            <a:r>
              <a:rPr sz="4350" b="1">
                <a:solidFill>
                  <a:srgbClr val="F0E8D2"/>
                </a:solidFill>
                <a:latin typeface="Noto Sans"/>
                <a:ea typeface="Noto Sans"/>
                <a:cs typeface="Noto Sans"/>
              </a:rPr>
              <a:t>SURVIVE</a:t>
            </a:r>
          </a:p>
          <a:p xmlns:a="http://schemas.openxmlformats.org/drawingml/2006/main">
            <a:pPr>
              <a:defRPr sz="4350" b="1">
                <a:solidFill>
                  <a:srgbClr val="F0E8D2"/>
                </a:solidFill>
                <a:latin typeface="Noto Sans"/>
                <a:ea typeface="Noto Sans"/>
                <a:cs typeface="Noto Sans"/>
              </a:defRPr>
            </a:pPr>
            <a:r>
              <a:rPr sz="4350" b="1">
                <a:solidFill>
                  <a:srgbClr val="F0E8D2"/>
                </a:solidFill>
                <a:latin typeface="Noto Sans"/>
                <a:ea typeface="Noto Sans"/>
                <a:cs typeface="Noto Sans"/>
              </a:rPr>
              <a:t>VAMPIROR</a:t>
            </a:r>
          </a:p>
        </p:txBody>
      </p:sp>
      <p:sp>
        <p:nvSpPr>
          <p:cNvPr id="3" name="">
            <a:extLst xmlns:a="http://schemas.openxmlformats.org/drawingml/2006/main">
              <a:ext uri="{FF2B5EF4-FFF2-40B4-BE49-F238E27FC236}">
                <a16:creationId xmlns:a16="http://schemas.microsoft.com/office/drawing/2014/main" id="{110718A4-F1C3-4FCA-A93F-0201CF57A79F}"/>
              </a:ext>
            </a:extLst>
          </p:cNvPr>
          <p:cNvSpPr>
            <a:spLocks xmlns:a="http://schemas.openxmlformats.org/drawingml/2006/main" noGrp="1"/>
          </p:cNvSpPr>
          <p:nvPr/>
        </p:nvSpPr>
        <p:spPr>
          <a:xfrm xmlns:a="http://schemas.openxmlformats.org/drawingml/2006/main">
            <a:off x="552450" y="300037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C9D795"/>
                </a:solidFill>
                <a:latin typeface="Noto Sans"/>
                <a:ea typeface="Noto Sans"/>
                <a:cs typeface="Noto Sans"/>
              </a:defRPr>
            </a:pPr>
            <a:r>
              <a:rPr sz="2550" b="0">
                <a:solidFill>
                  <a:srgbClr val="C9D795"/>
                </a:solidFill>
                <a:latin typeface="Noto Sans"/>
                <a:ea typeface="Noto Sans"/>
                <a:cs typeface="Noto Sans"/>
              </a:rPr>
              <a:t>You are the horde</a:t>
            </a:r>
          </a:p>
        </p:txBody>
      </p:sp>
      <p:sp>
        <p:nvSpPr>
          <p:cNvPr id="4" name="">
            <a:extLst xmlns:a="http://schemas.openxmlformats.org/drawingml/2006/main">
              <a:ext uri="{FF2B5EF4-FFF2-40B4-BE49-F238E27FC236}">
                <a16:creationId xmlns:a16="http://schemas.microsoft.com/office/drawing/2014/main" id="{1C0BFC3B-D778-42AA-BC0D-6D1897E2AB01}"/>
              </a:ext>
            </a:extLst>
          </p:cNvPr>
          <p:cNvSpPr>
            <a:spLocks xmlns:a="http://schemas.openxmlformats.org/drawingml/2006/main" noGrp="1"/>
          </p:cNvSpPr>
          <p:nvPr/>
        </p:nvSpPr>
        <p:spPr>
          <a:xfrm xmlns:a="http://schemas.openxmlformats.org/drawingml/2006/main">
            <a:off x="552450" y="4667250"/>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E8D2"/>
                </a:solidFill>
                <a:latin typeface="Noto Sans"/>
                <a:ea typeface="Noto Sans"/>
                <a:cs typeface="Noto Sans"/>
              </a:defRPr>
            </a:pPr>
            <a:r>
              <a:rPr sz="2025" b="0">
                <a:solidFill>
                  <a:srgbClr val="F0E8D2"/>
                </a:solidFill>
                <a:latin typeface="Noto Sans"/>
                <a:ea typeface="Noto Sans"/>
                <a:cs typeface="Noto Sans"/>
              </a:rPr>
              <a:t>A browser strategy game</a:t>
            </a:r>
          </a:p>
          <a:p xmlns:a="http://schemas.openxmlformats.org/drawingml/2006/main">
            <a:pPr>
              <a:defRPr sz="2025" b="0">
                <a:solidFill>
                  <a:srgbClr val="F0E8D2"/>
                </a:solidFill>
                <a:latin typeface="Noto Sans"/>
                <a:ea typeface="Noto Sans"/>
                <a:cs typeface="Noto Sans"/>
              </a:defRPr>
            </a:pPr>
            <a:r>
              <a:rPr sz="2025" b="0">
                <a:solidFill>
                  <a:srgbClr val="F0E8D2"/>
                </a:solidFill>
                <a:latin typeface="Noto Sans"/>
                <a:ea typeface="Noto Sans"/>
                <a:cs typeface="Noto Sans"/>
              </a:rPr>
              <a:t>by meatPigeon</a:t>
            </a:r>
          </a:p>
        </p:txBody>
      </p:sp>
    </p:spTree>
    <p:extLst>
      <p:ext uri="{BB962C8B-B14F-4D97-AF65-F5344CB8AC3E}">
        <p14:creationId xmlns:p14="http://schemas.microsoft.com/office/powerpoint/2010/main" val="1612708155"/>
      </p:ext>
    </p:extLst>
  </p:cSld>
</p:sld>
</file>

<file path=ppt/slides/slide2.xml><?xml version="1.0" encoding="utf-8"?>
<p:sld xmlns:p="http://schemas.openxmlformats.org/presentationml/2006/main">
  <p:cSld>
    <p:bg>
      <p:bgPr>
        <a:solidFill xmlns:a="http://schemas.openxmlformats.org/drawingml/2006/main">
          <a:srgbClr val="10251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A2D7F6-4654-40F1-976B-2FB5F87D2A9E}"/>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0E8D2"/>
                </a:solidFill>
                <a:latin typeface="Noto Sans"/>
                <a:ea typeface="Noto Sans"/>
                <a:cs typeface="Noto Sans"/>
              </a:defRPr>
            </a:pPr>
            <a:r>
              <a:rPr sz="3600" b="1">
                <a:solidFill>
                  <a:srgbClr val="F0E8D2"/>
                </a:solidFill>
                <a:latin typeface="Noto Sans"/>
                <a:ea typeface="Noto Sans"/>
                <a:cs typeface="Noto Sans"/>
              </a:rPr>
              <a:t>Forty zombies. One shared lifeline.</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cbbf7f9dc594fe7"/>
          <a:stretch xmlns:a="http://schemas.openxmlformats.org/drawingml/2006/main"/>
        </p:blipFill>
        <p:spPr>
          <a:xfrm xmlns:a="http://schemas.openxmlformats.org/drawingml/2006/main">
            <a:off x="5288517" y="1381125"/>
            <a:ext cx="6377465" cy="5143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9107A8C-9A5B-45B3-BB6F-DB521FA1A587}"/>
              </a:ext>
            </a:extLst>
          </p:cNvPr>
          <p:cNvSpPr>
            <a:spLocks xmlns:a="http://schemas.openxmlformats.org/drawingml/2006/main" noGrp="1"/>
          </p:cNvSpPr>
          <p:nvPr/>
        </p:nvSpPr>
        <p:spPr>
          <a:xfrm xmlns:a="http://schemas.openxmlformats.org/drawingml/2006/main">
            <a:off x="571500" y="1714500"/>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0E8D2"/>
                </a:solidFill>
                <a:latin typeface="Noto Sans"/>
                <a:ea typeface="Noto Sans"/>
                <a:cs typeface="Noto Sans"/>
              </a:defRPr>
            </a:pPr>
            <a:r>
              <a:rPr sz="2475" b="0">
                <a:solidFill>
                  <a:srgbClr val="F0E8D2"/>
                </a:solidFill>
                <a:latin typeface="Noto Sans"/>
                <a:ea typeface="Noto Sans"/>
                <a:cs typeface="Noto Sans"/>
              </a:rPr>
              <a:t>You steer the entire horde.</a:t>
            </a:r>
          </a:p>
          <a:p xmlns:a="http://schemas.openxmlformats.org/drawingml/2006/main">
            <a:pPr>
              <a:defRPr sz="2475" b="0">
                <a:solidFill>
                  <a:srgbClr val="F0E8D2"/>
                </a:solidFill>
                <a:latin typeface="Noto Sans"/>
                <a:ea typeface="Noto Sans"/>
                <a:cs typeface="Noto Sans"/>
              </a:defRPr>
            </a:pPr>
            <a:r>
              <a:rPr sz="2475" b="0">
                <a:solidFill>
                  <a:srgbClr val="F0E8D2"/>
                </a:solidFill>
                <a:latin typeface="Noto Sans"/>
                <a:ea typeface="Noto Sans"/>
                <a:cs typeface="Noto Sans"/>
              </a:rPr>
              <a:t>Zombies bite automatically.</a:t>
            </a:r>
          </a:p>
        </p:txBody>
      </p:sp>
      <p:sp>
        <p:nvSpPr>
          <p:cNvPr id="4" name="">
            <a:extLst xmlns:a="http://schemas.openxmlformats.org/drawingml/2006/main">
              <a:ext uri="{FF2B5EF4-FFF2-40B4-BE49-F238E27FC236}">
                <a16:creationId xmlns:a16="http://schemas.microsoft.com/office/drawing/2014/main" id="{3F38BFCB-12D7-4035-B69D-DE6CBC668B59}"/>
              </a:ext>
            </a:extLst>
          </p:cNvPr>
          <p:cNvSpPr>
            <a:spLocks xmlns:a="http://schemas.openxmlformats.org/drawingml/2006/main" noGrp="1"/>
          </p:cNvSpPr>
          <p:nvPr/>
        </p:nvSpPr>
        <p:spPr>
          <a:xfrm xmlns:a="http://schemas.openxmlformats.org/drawingml/2006/main">
            <a:off x="571500" y="3476625"/>
            <a:ext cx="4286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C9D795"/>
                </a:solidFill>
                <a:latin typeface="Noto Sans"/>
                <a:ea typeface="Noto Sans"/>
                <a:cs typeface="Noto Sans"/>
              </a:defRPr>
            </a:pPr>
            <a:r>
              <a:rPr sz="2325" b="0">
                <a:solidFill>
                  <a:srgbClr val="C9D795"/>
                </a:solidFill>
                <a:latin typeface="Noto Sans"/>
                <a:ea typeface="Noto Sans"/>
                <a:cs typeface="Noto Sans"/>
              </a:rPr>
              <a:t>Keep at least one permanent</a:t>
            </a:r>
          </a:p>
          <a:p xmlns:a="http://schemas.openxmlformats.org/drawingml/2006/main">
            <a:pPr>
              <a:defRPr sz="2325" b="0">
                <a:solidFill>
                  <a:srgbClr val="C9D795"/>
                </a:solidFill>
                <a:latin typeface="Noto Sans"/>
                <a:ea typeface="Noto Sans"/>
                <a:cs typeface="Noto Sans"/>
              </a:defRPr>
            </a:pPr>
            <a:r>
              <a:rPr sz="2325" b="0">
                <a:solidFill>
                  <a:srgbClr val="C9D795"/>
                </a:solidFill>
                <a:latin typeface="Noto Sans"/>
                <a:ea typeface="Noto Sans"/>
                <a:cs typeface="Noto Sans"/>
              </a:rPr>
              <a:t>zombie alive to continue</a:t>
            </a:r>
          </a:p>
          <a:p xmlns:a="http://schemas.openxmlformats.org/drawingml/2006/main">
            <a:pPr>
              <a:defRPr sz="2325" b="0">
                <a:solidFill>
                  <a:srgbClr val="C9D795"/>
                </a:solidFill>
                <a:latin typeface="Noto Sans"/>
                <a:ea typeface="Noto Sans"/>
                <a:cs typeface="Noto Sans"/>
              </a:defRPr>
            </a:pPr>
            <a:r>
              <a:rPr sz="2325" b="0">
                <a:solidFill>
                  <a:srgbClr val="C9D795"/>
                </a:solidFill>
                <a:latin typeface="Noto Sans"/>
                <a:ea typeface="Noto Sans"/>
                <a:cs typeface="Noto Sans"/>
              </a:rPr>
              <a:t>the march.</a:t>
            </a:r>
          </a:p>
        </p:txBody>
      </p:sp>
    </p:spTree>
    <p:extLst>
      <p:ext uri="{BB962C8B-B14F-4D97-AF65-F5344CB8AC3E}">
        <p14:creationId xmlns:p14="http://schemas.microsoft.com/office/powerpoint/2010/main" val="564094441"/>
      </p:ext>
    </p:extLst>
  </p:cSld>
</p:sld>
</file>

<file path=ppt/slides/slide3.xml><?xml version="1.0" encoding="utf-8"?>
<p:sld xmlns:p="http://schemas.openxmlformats.org/presentationml/2006/main">
  <p:cSld>
    <p:bg>
      <p:bgPr>
        <a:solidFill xmlns:a="http://schemas.openxmlformats.org/drawingml/2006/main">
          <a:srgbClr val="10251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138337-D516-43FA-BDF6-4639C3EF5BF1}"/>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0E8D2"/>
                </a:solidFill>
                <a:latin typeface="Noto Sans"/>
                <a:ea typeface="Noto Sans"/>
                <a:cs typeface="Noto Sans"/>
              </a:defRPr>
            </a:pPr>
            <a:r>
              <a:rPr sz="3600" b="1">
                <a:solidFill>
                  <a:srgbClr val="F0E8D2"/>
                </a:solidFill>
                <a:latin typeface="Noto Sans"/>
                <a:ea typeface="Noto Sans"/>
                <a:cs typeface="Noto Sans"/>
              </a:rPr>
              <a:t>Temporary allies change the tactics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e45b3fbe8cf48b4"/>
          <a:stretch xmlns:a="http://schemas.openxmlformats.org/drawingml/2006/main"/>
        </p:blipFill>
        <p:spPr>
          <a:xfrm xmlns:a="http://schemas.openxmlformats.org/drawingml/2006/main">
            <a:off x="928907" y="1476375"/>
            <a:ext cx="5905061" cy="4762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CF948AC-42AC-45C7-BB8D-FA0CFFBB24B1}"/>
              </a:ext>
            </a:extLst>
          </p:cNvPr>
          <p:cNvSpPr>
            <a:spLocks xmlns:a="http://schemas.openxmlformats.org/drawingml/2006/main" noGrp="1"/>
          </p:cNvSpPr>
          <p:nvPr/>
        </p:nvSpPr>
        <p:spPr>
          <a:xfrm xmlns:a="http://schemas.openxmlformats.org/drawingml/2006/main">
            <a:off x="7572375" y="1666875"/>
            <a:ext cx="4095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D795"/>
                </a:solidFill>
                <a:latin typeface="Noto Sans"/>
                <a:ea typeface="Noto Sans"/>
                <a:cs typeface="Noto Sans"/>
              </a:defRPr>
            </a:pPr>
            <a:r>
              <a:rPr sz="2400" b="1">
                <a:solidFill>
                  <a:srgbClr val="C9D795"/>
                </a:solidFill>
                <a:latin typeface="Noto Sans"/>
                <a:ea typeface="Noto Sans"/>
                <a:cs typeface="Noto Sans"/>
              </a:rPr>
              <a:t>Recruit at scattered craters</a:t>
            </a:r>
          </a:p>
        </p:txBody>
      </p:sp>
      <p:sp>
        <p:nvSpPr>
          <p:cNvPr id="4" name="">
            <a:extLst xmlns:a="http://schemas.openxmlformats.org/drawingml/2006/main">
              <a:ext uri="{FF2B5EF4-FFF2-40B4-BE49-F238E27FC236}">
                <a16:creationId xmlns:a16="http://schemas.microsoft.com/office/drawing/2014/main" id="{E570FA3A-9AFA-41CA-9E66-731DD8055880}"/>
              </a:ext>
            </a:extLst>
          </p:cNvPr>
          <p:cNvSpPr>
            <a:spLocks xmlns:a="http://schemas.openxmlformats.org/drawingml/2006/main" noGrp="1"/>
          </p:cNvSpPr>
          <p:nvPr/>
        </p:nvSpPr>
        <p:spPr>
          <a:xfrm xmlns:a="http://schemas.openxmlformats.org/drawingml/2006/main">
            <a:off x="7572375" y="2905125"/>
            <a:ext cx="4095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0E8D2"/>
                </a:solidFill>
                <a:latin typeface="Noto Sans"/>
                <a:ea typeface="Noto Sans"/>
                <a:cs typeface="Noto Sans"/>
              </a:defRPr>
            </a:pPr>
            <a:r>
              <a:rPr sz="2175" b="0">
                <a:solidFill>
                  <a:srgbClr val="F0E8D2"/>
                </a:solidFill>
                <a:latin typeface="Noto Sans"/>
                <a:ea typeface="Noto Sans"/>
                <a:cs typeface="Noto Sans"/>
              </a:rPr>
              <a:t>Turn temporary recruits</a:t>
            </a:r>
          </a:p>
          <a:p xmlns:a="http://schemas.openxmlformats.org/drawingml/2006/main">
            <a:pPr>
              <a:defRPr sz="2175" b="0">
                <a:solidFill>
                  <a:srgbClr val="F0E8D2"/>
                </a:solidFill>
                <a:latin typeface="Noto Sans"/>
                <a:ea typeface="Noto Sans"/>
                <a:cs typeface="Noto Sans"/>
              </a:defRPr>
            </a:pPr>
            <a:r>
              <a:rPr sz="2175" b="0">
                <a:solidFill>
                  <a:srgbClr val="F0E8D2"/>
                </a:solidFill>
                <a:latin typeface="Noto Sans"/>
                <a:ea typeface="Noto Sans"/>
                <a:cs typeface="Noto Sans"/>
              </a:rPr>
              <a:t>into passable corpse mines.</a:t>
            </a:r>
          </a:p>
          <a:p xmlns:a="http://schemas.openxmlformats.org/drawingml/2006/main">
            <a:r>
              <a:t/>
            </a:r>
          </a:p>
          <a:p xmlns:a="http://schemas.openxmlformats.org/drawingml/2006/main">
            <a:pPr>
              <a:defRPr sz="2175" b="0">
                <a:solidFill>
                  <a:srgbClr val="F0E8D2"/>
                </a:solidFill>
                <a:latin typeface="Noto Sans"/>
                <a:ea typeface="Noto Sans"/>
                <a:cs typeface="Noto Sans"/>
              </a:defRPr>
            </a:pPr>
            <a:r>
              <a:rPr sz="2175" b="0">
                <a:solidFill>
                  <a:srgbClr val="F0E8D2"/>
                </a:solidFill>
                <a:latin typeface="Noto Sans"/>
                <a:ea typeface="Noto Sans"/>
                <a:cs typeface="Noto Sans"/>
              </a:rPr>
              <a:t>Choose abilities and perks</a:t>
            </a:r>
          </a:p>
          <a:p xmlns:a="http://schemas.openxmlformats.org/drawingml/2006/main">
            <a:pPr>
              <a:defRPr sz="2175" b="0">
                <a:solidFill>
                  <a:srgbClr val="F0E8D2"/>
                </a:solidFill>
                <a:latin typeface="Noto Sans"/>
                <a:ea typeface="Noto Sans"/>
                <a:cs typeface="Noto Sans"/>
              </a:defRPr>
            </a:pPr>
            <a:r>
              <a:rPr sz="2175" b="0">
                <a:solidFill>
                  <a:srgbClr val="F0E8D2"/>
                </a:solidFill>
                <a:latin typeface="Noto Sans"/>
                <a:ea typeface="Noto Sans"/>
                <a:cs typeface="Noto Sans"/>
              </a:rPr>
              <a:t>between battles.</a:t>
            </a:r>
          </a:p>
        </p:txBody>
      </p:sp>
    </p:spTree>
    <p:extLst>
      <p:ext uri="{BB962C8B-B14F-4D97-AF65-F5344CB8AC3E}">
        <p14:creationId xmlns:p14="http://schemas.microsoft.com/office/powerpoint/2010/main" val="1084638977"/>
      </p:ext>
    </p:extLst>
  </p:cSld>
</p:sld>
</file>

<file path=ppt/slides/slide4.xml><?xml version="1.0" encoding="utf-8"?>
<p:sld xmlns:p="http://schemas.openxmlformats.org/presentationml/2006/main">
  <p:cSld>
    <p:bg>
      <p:bgPr>
        <a:solidFill xmlns:a="http://schemas.openxmlformats.org/drawingml/2006/main">
          <a:srgbClr val="10251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A83F08-1F13-4469-8BE2-7E388F45DF1A}"/>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0E8D2"/>
                </a:solidFill>
                <a:latin typeface="Noto Sans"/>
                <a:ea typeface="Noto Sans"/>
                <a:cs typeface="Noto Sans"/>
              </a:defRPr>
            </a:pPr>
            <a:r>
              <a:rPr sz="3600" b="1">
                <a:solidFill>
                  <a:srgbClr val="F0E8D2"/>
                </a:solidFill>
                <a:latin typeface="Noto Sans"/>
                <a:ea typeface="Noto Sans"/>
                <a:cs typeface="Noto Sans"/>
              </a:rPr>
              <a:t>A kingdom worth conquering</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feb509770b8490c"/>
          <a:stretch xmlns:a="http://schemas.openxmlformats.org/drawingml/2006/main"/>
        </p:blipFill>
        <p:spPr>
          <a:xfrm xmlns:a="http://schemas.openxmlformats.org/drawingml/2006/main">
            <a:off x="5383767" y="1409700"/>
            <a:ext cx="6377465" cy="5143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32DC1AC-80AC-4F03-A866-3E837ECFC22B}"/>
              </a:ext>
            </a:extLst>
          </p:cNvPr>
          <p:cNvSpPr>
            <a:spLocks xmlns:a="http://schemas.openxmlformats.org/drawingml/2006/main" noGrp="1"/>
          </p:cNvSpPr>
          <p:nvPr/>
        </p:nvSpPr>
        <p:spPr>
          <a:xfrm xmlns:a="http://schemas.openxmlformats.org/drawingml/2006/main">
            <a:off x="619125" y="1524000"/>
            <a:ext cx="4381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0E8D2"/>
                </a:solidFill>
                <a:latin typeface="Noto Sans"/>
                <a:ea typeface="Noto Sans"/>
                <a:cs typeface="Noto Sans"/>
              </a:defRPr>
            </a:pPr>
            <a:r>
              <a:rPr sz="2550" b="0">
                <a:solidFill>
                  <a:srgbClr val="F0E8D2"/>
                </a:solidFill>
                <a:latin typeface="Noto Sans"/>
                <a:ea typeface="Noto Sans"/>
                <a:cs typeface="Noto Sans"/>
              </a:rPr>
              <a:t>Village Graveyard</a:t>
            </a:r>
          </a:p>
          <a:p xmlns:a="http://schemas.openxmlformats.org/drawingml/2006/main">
            <a:pPr>
              <a:defRPr sz="2550" b="0">
                <a:solidFill>
                  <a:srgbClr val="F0E8D2"/>
                </a:solidFill>
                <a:latin typeface="Noto Sans"/>
                <a:ea typeface="Noto Sans"/>
                <a:cs typeface="Noto Sans"/>
              </a:defRPr>
            </a:pPr>
            <a:r>
              <a:rPr sz="2550" b="0">
                <a:solidFill>
                  <a:srgbClr val="F0E8D2"/>
                </a:solidFill>
                <a:latin typeface="Noto Sans"/>
                <a:ea typeface="Noto Sans"/>
                <a:cs typeface="Noto Sans"/>
              </a:rPr>
              <a:t>Village Chapel</a:t>
            </a:r>
          </a:p>
          <a:p xmlns:a="http://schemas.openxmlformats.org/drawingml/2006/main">
            <a:pPr>
              <a:defRPr sz="2550" b="0">
                <a:solidFill>
                  <a:srgbClr val="F0E8D2"/>
                </a:solidFill>
                <a:latin typeface="Noto Sans"/>
                <a:ea typeface="Noto Sans"/>
                <a:cs typeface="Noto Sans"/>
              </a:defRPr>
            </a:pPr>
            <a:r>
              <a:rPr sz="2550" b="0">
                <a:solidFill>
                  <a:srgbClr val="F0E8D2"/>
                </a:solidFill>
                <a:latin typeface="Noto Sans"/>
                <a:ea typeface="Noto Sans"/>
                <a:cs typeface="Noto Sans"/>
              </a:rPr>
              <a:t>Royal Road</a:t>
            </a:r>
          </a:p>
          <a:p xmlns:a="http://schemas.openxmlformats.org/drawingml/2006/main">
            <a:pPr>
              <a:defRPr sz="2550" b="0">
                <a:solidFill>
                  <a:srgbClr val="F0E8D2"/>
                </a:solidFill>
                <a:latin typeface="Noto Sans"/>
                <a:ea typeface="Noto Sans"/>
                <a:cs typeface="Noto Sans"/>
              </a:defRPr>
            </a:pPr>
            <a:r>
              <a:rPr sz="2550" b="0">
                <a:solidFill>
                  <a:srgbClr val="F0E8D2"/>
                </a:solidFill>
                <a:latin typeface="Noto Sans"/>
                <a:ea typeface="Noto Sans"/>
                <a:cs typeface="Noto Sans"/>
              </a:rPr>
              <a:t>Fortress Outskirts</a:t>
            </a:r>
          </a:p>
          <a:p xmlns:a="http://schemas.openxmlformats.org/drawingml/2006/main">
            <a:pPr>
              <a:defRPr sz="2550" b="0">
                <a:solidFill>
                  <a:srgbClr val="F0E8D2"/>
                </a:solidFill>
                <a:latin typeface="Noto Sans"/>
                <a:ea typeface="Noto Sans"/>
                <a:cs typeface="Noto Sans"/>
              </a:defRPr>
            </a:pPr>
            <a:r>
              <a:rPr sz="2550" b="0">
                <a:solidFill>
                  <a:srgbClr val="F0E8D2"/>
                </a:solidFill>
                <a:latin typeface="Noto Sans"/>
                <a:ea typeface="Noto Sans"/>
                <a:cs typeface="Noto Sans"/>
              </a:rPr>
              <a:t>Castle Courtyard</a:t>
            </a:r>
          </a:p>
        </p:txBody>
      </p:sp>
      <p:sp>
        <p:nvSpPr>
          <p:cNvPr id="4" name="">
            <a:extLst xmlns:a="http://schemas.openxmlformats.org/drawingml/2006/main">
              <a:ext uri="{FF2B5EF4-FFF2-40B4-BE49-F238E27FC236}">
                <a16:creationId xmlns:a16="http://schemas.microsoft.com/office/drawing/2014/main" id="{AEE7F70F-183E-4714-B94C-827009247054}"/>
              </a:ext>
            </a:extLst>
          </p:cNvPr>
          <p:cNvSpPr>
            <a:spLocks xmlns:a="http://schemas.openxmlformats.org/drawingml/2006/main" noGrp="1"/>
          </p:cNvSpPr>
          <p:nvPr/>
        </p:nvSpPr>
        <p:spPr>
          <a:xfrm xmlns:a="http://schemas.openxmlformats.org/drawingml/2006/main">
            <a:off x="619125" y="5143500"/>
            <a:ext cx="409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D795"/>
                </a:solidFill>
                <a:latin typeface="Noto Sans"/>
                <a:ea typeface="Noto Sans"/>
                <a:cs typeface="Noto Sans"/>
              </a:defRPr>
            </a:pPr>
            <a:r>
              <a:rPr sz="2250" b="1">
                <a:solidFill>
                  <a:srgbClr val="C9D795"/>
                </a:solidFill>
                <a:latin typeface="Noto Sans"/>
                <a:ea typeface="Noto Sans"/>
                <a:cs typeface="Noto Sans"/>
              </a:rPr>
              <a:t>5 defenders</a:t>
            </a:r>
          </a:p>
          <a:p xmlns:a="http://schemas.openxmlformats.org/drawingml/2006/main">
            <a:pPr>
              <a:defRPr sz="2250" b="1">
                <a:solidFill>
                  <a:srgbClr val="C9D795"/>
                </a:solidFill>
                <a:latin typeface="Noto Sans"/>
                <a:ea typeface="Noto Sans"/>
                <a:cs typeface="Noto Sans"/>
              </a:defRPr>
            </a:pPr>
            <a:r>
              <a:rPr sz="2250" b="1">
                <a:solidFill>
                  <a:srgbClr val="C9D795"/>
                </a:solidFill>
                <a:latin typeface="Noto Sans"/>
                <a:ea typeface="Noto Sans"/>
                <a:cs typeface="Noto Sans"/>
              </a:rPr>
              <a:t>10 knight attacks</a:t>
            </a:r>
          </a:p>
        </p:txBody>
      </p:sp>
    </p:spTree>
    <p:extLst>
      <p:ext uri="{BB962C8B-B14F-4D97-AF65-F5344CB8AC3E}">
        <p14:creationId xmlns:p14="http://schemas.microsoft.com/office/powerpoint/2010/main" val="273091298"/>
      </p:ext>
    </p:extLst>
  </p:cSld>
</p:sld>
</file>

<file path=ppt/slides/slide5.xml><?xml version="1.0" encoding="utf-8"?>
<p:sld xmlns:p="http://schemas.openxmlformats.org/presentationml/2006/main">
  <p:cSld>
    <p:bg>
      <p:bgPr>
        <a:solidFill xmlns:a="http://schemas.openxmlformats.org/drawingml/2006/main">
          <a:srgbClr val="10251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59CF69-96ED-4EBC-9990-58083CFC6D8B}"/>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0E8D2"/>
                </a:solidFill>
                <a:latin typeface="Noto Sans"/>
                <a:ea typeface="Noto Sans"/>
                <a:cs typeface="Noto Sans"/>
              </a:defRPr>
            </a:pPr>
            <a:r>
              <a:rPr sz="3600" b="1">
                <a:solidFill>
                  <a:srgbClr val="F0E8D2"/>
                </a:solidFill>
                <a:latin typeface="Noto Sans"/>
                <a:ea typeface="Noto Sans"/>
                <a:cs typeface="Noto Sans"/>
              </a:rPr>
              <a:t>Built for a browser audience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b8e3b6873624912"/>
          <a:stretch xmlns:a="http://schemas.openxmlformats.org/drawingml/2006/main"/>
        </p:blipFill>
        <p:spPr>
          <a:xfrm xmlns:a="http://schemas.openxmlformats.org/drawingml/2006/main">
            <a:off x="8580293" y="1333500"/>
            <a:ext cx="2270415" cy="49053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6872663-8187-4039-911E-CF6321902B5D}"/>
              </a:ext>
            </a:extLst>
          </p:cNvPr>
          <p:cNvSpPr>
            <a:spLocks xmlns:a="http://schemas.openxmlformats.org/drawingml/2006/main" noGrp="1"/>
          </p:cNvSpPr>
          <p:nvPr/>
        </p:nvSpPr>
        <p:spPr>
          <a:xfrm xmlns:a="http://schemas.openxmlformats.org/drawingml/2006/main">
            <a:off x="619125" y="1619250"/>
            <a:ext cx="723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9D795"/>
                </a:solidFill>
                <a:latin typeface="Noto Sans"/>
                <a:ea typeface="Noto Sans"/>
                <a:cs typeface="Noto Sans"/>
              </a:defRPr>
            </a:pPr>
            <a:r>
              <a:rPr sz="2550" b="1">
                <a:solidFill>
                  <a:srgbClr val="C9D795"/>
                </a:solidFill>
                <a:latin typeface="Noto Sans"/>
                <a:ea typeface="Noto Sans"/>
                <a:cs typeface="Noto Sans"/>
              </a:rPr>
              <a:t>Click, keyboard or touch controls</a:t>
            </a:r>
          </a:p>
        </p:txBody>
      </p:sp>
      <p:sp>
        <p:nvSpPr>
          <p:cNvPr id="4" name="">
            <a:extLst xmlns:a="http://schemas.openxmlformats.org/drawingml/2006/main">
              <a:ext uri="{FF2B5EF4-FFF2-40B4-BE49-F238E27FC236}">
                <a16:creationId xmlns:a16="http://schemas.microsoft.com/office/drawing/2014/main" id="{B86B1EC9-D740-4CB6-AAA4-412CB36B2951}"/>
              </a:ext>
            </a:extLst>
          </p:cNvPr>
          <p:cNvSpPr>
            <a:spLocks xmlns:a="http://schemas.openxmlformats.org/drawingml/2006/main" noGrp="1"/>
          </p:cNvSpPr>
          <p:nvPr/>
        </p:nvSpPr>
        <p:spPr>
          <a:xfrm xmlns:a="http://schemas.openxmlformats.org/drawingml/2006/main">
            <a:off x="619125" y="2667000"/>
            <a:ext cx="7334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0E8D2"/>
                </a:solidFill>
                <a:latin typeface="Noto Sans"/>
                <a:ea typeface="Noto Sans"/>
                <a:cs typeface="Noto Sans"/>
              </a:defRPr>
            </a:pPr>
            <a:r>
              <a:rPr sz="2250" b="0">
                <a:solidFill>
                  <a:srgbClr val="F0E8D2"/>
                </a:solidFill>
                <a:latin typeface="Noto Sans"/>
                <a:ea typeface="Noto Sans"/>
                <a:cs typeface="Noto Sans"/>
              </a:rPr>
              <a:t>Cloud checkpoints and location retries</a:t>
            </a:r>
          </a:p>
          <a:p xmlns:a="http://schemas.openxmlformats.org/drawingml/2006/main">
            <a:pPr>
              <a:defRPr sz="2250" b="0">
                <a:solidFill>
                  <a:srgbClr val="F0E8D2"/>
                </a:solidFill>
                <a:latin typeface="Noto Sans"/>
                <a:ea typeface="Noto Sans"/>
                <a:cs typeface="Noto Sans"/>
              </a:defRPr>
            </a:pPr>
            <a:r>
              <a:rPr sz="2250" b="0">
                <a:solidFill>
                  <a:srgbClr val="F0E8D2"/>
                </a:solidFill>
                <a:latin typeface="Noto Sans"/>
                <a:ea typeface="Noto Sans"/>
                <a:cs typeface="Noto Sans"/>
              </a:rPr>
              <a:t>Adventure and Relentless difficulty</a:t>
            </a:r>
          </a:p>
          <a:p xmlns:a="http://schemas.openxmlformats.org/drawingml/2006/main">
            <a:pPr>
              <a:defRPr sz="2250" b="0">
                <a:solidFill>
                  <a:srgbClr val="F0E8D2"/>
                </a:solidFill>
                <a:latin typeface="Noto Sans"/>
                <a:ea typeface="Noto Sans"/>
                <a:cs typeface="Noto Sans"/>
              </a:defRPr>
            </a:pPr>
            <a:r>
              <a:rPr sz="2250" b="0">
                <a:solidFill>
                  <a:srgbClr val="F0E8D2"/>
                </a:solidFill>
                <a:latin typeface="Noto Sans"/>
                <a:ea typeface="Noto Sans"/>
                <a:cs typeface="Noto Sans"/>
              </a:rPr>
              <a:t>Remappable controls and motion settings</a:t>
            </a:r>
          </a:p>
        </p:txBody>
      </p:sp>
      <p:sp>
        <p:nvSpPr>
          <p:cNvPr id="5" name="">
            <a:extLst xmlns:a="http://schemas.openxmlformats.org/drawingml/2006/main">
              <a:ext uri="{FF2B5EF4-FFF2-40B4-BE49-F238E27FC236}">
                <a16:creationId xmlns:a16="http://schemas.microsoft.com/office/drawing/2014/main" id="{2026B726-D3F6-4AD8-BAD2-71477526CBAD}"/>
              </a:ext>
            </a:extLst>
          </p:cNvPr>
          <p:cNvSpPr>
            <a:spLocks xmlns:a="http://schemas.openxmlformats.org/drawingml/2006/main" noGrp="1"/>
          </p:cNvSpPr>
          <p:nvPr/>
        </p:nvSpPr>
        <p:spPr>
          <a:xfrm xmlns:a="http://schemas.openxmlformats.org/drawingml/2006/main">
            <a:off x="619125" y="5334000"/>
            <a:ext cx="723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0E8D2"/>
                </a:solidFill>
                <a:latin typeface="Noto Sans"/>
                <a:ea typeface="Noto Sans"/>
                <a:cs typeface="Noto Sans"/>
              </a:defRPr>
            </a:pPr>
            <a:r>
              <a:rPr sz="2025" b="0">
                <a:solidFill>
                  <a:srgbClr val="F0E8D2"/>
                </a:solidFill>
                <a:latin typeface="Noto Sans"/>
                <a:ea typeface="Noto Sans"/>
                <a:cs typeface="Noto Sans"/>
              </a:rPr>
              <a:t>Five-location browser release</a:t>
            </a:r>
          </a:p>
          <a:p xmlns:a="http://schemas.openxmlformats.org/drawingml/2006/main">
            <a:pPr>
              <a:defRPr sz="2025" b="0">
                <a:solidFill>
                  <a:srgbClr val="F0E8D2"/>
                </a:solidFill>
                <a:latin typeface="Noto Sans"/>
                <a:ea typeface="Noto Sans"/>
                <a:cs typeface="Noto Sans"/>
              </a:defRPr>
            </a:pPr>
            <a:r>
              <a:rPr sz="2025" b="0">
                <a:solidFill>
                  <a:srgbClr val="F0E8D2"/>
                </a:solidFill>
                <a:latin typeface="Noto Sans"/>
                <a:ea typeface="Noto Sans"/>
                <a:cs typeface="Noto Sans"/>
              </a:rPr>
              <a:t>83 automated tests passed</a:t>
            </a:r>
          </a:p>
        </p:txBody>
      </p:sp>
    </p:spTree>
    <p:extLst>
      <p:ext uri="{BB962C8B-B14F-4D97-AF65-F5344CB8AC3E}">
        <p14:creationId xmlns:p14="http://schemas.microsoft.com/office/powerpoint/2010/main" val="2074427989"/>
      </p:ext>
    </p:extLst>
  </p:cSld>
</p:sld>
</file>

<file path=ppt/slides/slide6.xml><?xml version="1.0" encoding="utf-8"?>
<p:sld xmlns:p="http://schemas.openxmlformats.org/presentationml/2006/main">
  <p:cSld>
    <p:bg>
      <p:bgPr>
        <a:solidFill xmlns:a="http://schemas.openxmlformats.org/drawingml/2006/main">
          <a:srgbClr val="1025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AB9FD2-476F-4145-91B7-4EAD61893951}"/>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0E8D2"/>
                </a:solidFill>
                <a:latin typeface="Noto Sans"/>
                <a:ea typeface="Noto Sans"/>
                <a:cs typeface="Noto Sans"/>
              </a:defRPr>
            </a:pPr>
            <a:r>
              <a:rPr sz="3600" b="1">
                <a:solidFill>
                  <a:srgbClr val="F0E8D2"/>
                </a:solidFill>
                <a:latin typeface="Noto Sans"/>
                <a:ea typeface="Noto Sans"/>
                <a:cs typeface="Noto Sans"/>
              </a:rPr>
              <a:t>Solana identity for your horde</a:t>
            </a:r>
          </a:p>
        </p:txBody>
      </p:sp>
      <p:sp>
        <p:nvSpPr>
          <p:cNvPr id="2" name="">
            <a:extLst xmlns:a="http://schemas.openxmlformats.org/drawingml/2006/main">
              <a:ext uri="{FF2B5EF4-FFF2-40B4-BE49-F238E27FC236}">
                <a16:creationId xmlns:a16="http://schemas.microsoft.com/office/drawing/2014/main" id="{D2880F38-A8E7-40FF-826B-82F5975DBF57}"/>
              </a:ext>
            </a:extLst>
          </p:cNvPr>
          <p:cNvSpPr>
            <a:spLocks xmlns:a="http://schemas.openxmlformats.org/drawingml/2006/main" noGrp="1"/>
          </p:cNvSpPr>
          <p:nvPr/>
        </p:nvSpPr>
        <p:spPr>
          <a:xfrm xmlns:a="http://schemas.openxmlformats.org/drawingml/2006/main">
            <a:off x="619125" y="1619250"/>
            <a:ext cx="5334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D795"/>
                </a:solidFill>
                <a:latin typeface="Noto Sans"/>
                <a:ea typeface="Noto Sans"/>
                <a:cs typeface="Noto Sans"/>
              </a:defRPr>
            </a:pPr>
            <a:r>
              <a:rPr sz="2400" b="1">
                <a:solidFill>
                  <a:srgbClr val="C9D795"/>
                </a:solidFill>
                <a:latin typeface="Noto Sans"/>
                <a:ea typeface="Noto Sans"/>
                <a:cs typeface="Noto Sans"/>
              </a:rPr>
              <a:t>Your wallet restores your march</a:t>
            </a:r>
          </a:p>
        </p:txBody>
      </p:sp>
      <p:sp>
        <p:nvSpPr>
          <p:cNvPr id="3" name="">
            <a:extLst xmlns:a="http://schemas.openxmlformats.org/drawingml/2006/main">
              <a:ext uri="{FF2B5EF4-FFF2-40B4-BE49-F238E27FC236}">
                <a16:creationId xmlns:a16="http://schemas.microsoft.com/office/drawing/2014/main" id="{01737774-9F88-480C-99B8-62AA32E27078}"/>
              </a:ext>
            </a:extLst>
          </p:cNvPr>
          <p:cNvSpPr>
            <a:spLocks xmlns:a="http://schemas.openxmlformats.org/drawingml/2006/main" noGrp="1"/>
          </p:cNvSpPr>
          <p:nvPr/>
        </p:nvSpPr>
        <p:spPr>
          <a:xfrm xmlns:a="http://schemas.openxmlformats.org/drawingml/2006/main">
            <a:off x="619125" y="2762250"/>
            <a:ext cx="5429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0E8D2"/>
                </a:solidFill>
                <a:latin typeface="Noto Sans"/>
                <a:ea typeface="Noto Sans"/>
                <a:cs typeface="Noto Sans"/>
              </a:defRPr>
            </a:pPr>
            <a:r>
              <a:rPr sz="2100" b="0">
                <a:solidFill>
                  <a:srgbClr val="F0E8D2"/>
                </a:solidFill>
                <a:latin typeface="Noto Sans"/>
                <a:ea typeface="Noto Sans"/>
                <a:cs typeface="Noto Sans"/>
              </a:rPr>
              <a:t>Sign an iDos login message.</a:t>
            </a:r>
          </a:p>
          <a:p xmlns:a="http://schemas.openxmlformats.org/drawingml/2006/main">
            <a:pPr>
              <a:defRPr sz="2100" b="0">
                <a:solidFill>
                  <a:srgbClr val="F0E8D2"/>
                </a:solidFill>
                <a:latin typeface="Noto Sans"/>
                <a:ea typeface="Noto Sans"/>
                <a:cs typeface="Noto Sans"/>
              </a:defRPr>
            </a:pPr>
            <a:r>
              <a:rPr sz="2100" b="0">
                <a:solidFill>
                  <a:srgbClr val="F0E8D2"/>
                </a:solidFill>
                <a:latin typeface="Noto Sans"/>
                <a:ea typeface="Noto Sans"/>
                <a:cs typeface="Noto Sans"/>
              </a:rPr>
              <a:t>Recover your campaign and records</a:t>
            </a:r>
          </a:p>
          <a:p xmlns:a="http://schemas.openxmlformats.org/drawingml/2006/main">
            <a:pPr>
              <a:defRPr sz="2100" b="0">
                <a:solidFill>
                  <a:srgbClr val="F0E8D2"/>
                </a:solidFill>
                <a:latin typeface="Noto Sans"/>
                <a:ea typeface="Noto Sans"/>
                <a:cs typeface="Noto Sans"/>
              </a:defRPr>
            </a:pPr>
            <a:r>
              <a:rPr sz="2100" b="0">
                <a:solidFill>
                  <a:srgbClr val="F0E8D2"/>
                </a:solidFill>
                <a:latin typeface="Noto Sans"/>
                <a:ea typeface="Noto Sans"/>
                <a:cs typeface="Noto Sans"/>
              </a:rPr>
              <a:t>on another browser.</a:t>
            </a:r>
          </a:p>
          <a:p xmlns:a="http://schemas.openxmlformats.org/drawingml/2006/main">
            <a:r>
              <a:t/>
            </a:r>
          </a:p>
          <a:p xmlns:a="http://schemas.openxmlformats.org/drawingml/2006/main">
            <a:pPr>
              <a:defRPr sz="2100" b="0">
                <a:solidFill>
                  <a:srgbClr val="F0E8D2"/>
                </a:solidFill>
                <a:latin typeface="Noto Sans"/>
                <a:ea typeface="Noto Sans"/>
                <a:cs typeface="Noto Sans"/>
              </a:defRPr>
            </a:pPr>
            <a:r>
              <a:rPr sz="2100" b="0">
                <a:solidFill>
                  <a:srgbClr val="F0E8D2"/>
                </a:solidFill>
                <a:latin typeface="Noto Sans"/>
                <a:ea typeface="Noto Sans"/>
                <a:cs typeface="Noto Sans"/>
              </a:rPr>
              <a:t>No transaction fee to sign in.</a:t>
            </a:r>
          </a:p>
        </p:txBody>
      </p:sp>
      <p:sp>
        <p:nvSpPr>
          <p:cNvPr id="4" name="">
            <a:extLst xmlns:a="http://schemas.openxmlformats.org/drawingml/2006/main">
              <a:ext uri="{FF2B5EF4-FFF2-40B4-BE49-F238E27FC236}">
                <a16:creationId xmlns:a16="http://schemas.microsoft.com/office/drawing/2014/main" id="{4AE582A0-9E18-44A2-9838-F044AAA40E9D}"/>
              </a:ext>
            </a:extLst>
          </p:cNvPr>
          <p:cNvSpPr>
            <a:spLocks xmlns:a="http://schemas.openxmlformats.org/drawingml/2006/main" noGrp="1"/>
          </p:cNvSpPr>
          <p:nvPr/>
        </p:nvSpPr>
        <p:spPr>
          <a:xfrm xmlns:a="http://schemas.openxmlformats.org/drawingml/2006/main">
            <a:off x="6810375" y="1619250"/>
            <a:ext cx="466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D795"/>
                </a:solidFill>
                <a:latin typeface="Noto Sans"/>
                <a:ea typeface="Noto Sans"/>
                <a:cs typeface="Noto Sans"/>
              </a:defRPr>
            </a:pPr>
            <a:r>
              <a:rPr sz="2400" b="1">
                <a:solidFill>
                  <a:srgbClr val="C9D795"/>
                </a:solidFill>
                <a:latin typeface="Noto Sans"/>
                <a:ea typeface="Noto Sans"/>
                <a:cs typeface="Noto Sans"/>
              </a:rPr>
              <a:t>HORDE on Solana</a:t>
            </a:r>
          </a:p>
        </p:txBody>
      </p:sp>
      <p:sp>
        <p:nvSpPr>
          <p:cNvPr id="5" name="">
            <a:extLst xmlns:a="http://schemas.openxmlformats.org/drawingml/2006/main">
              <a:ext uri="{FF2B5EF4-FFF2-40B4-BE49-F238E27FC236}">
                <a16:creationId xmlns:a16="http://schemas.microsoft.com/office/drawing/2014/main" id="{F6A52C86-74AF-4336-91E8-B6F07ECAAE11}"/>
              </a:ext>
            </a:extLst>
          </p:cNvPr>
          <p:cNvSpPr>
            <a:spLocks xmlns:a="http://schemas.openxmlformats.org/drawingml/2006/main" noGrp="1"/>
          </p:cNvSpPr>
          <p:nvPr/>
        </p:nvSpPr>
        <p:spPr>
          <a:xfrm xmlns:a="http://schemas.openxmlformats.org/drawingml/2006/main">
            <a:off x="6810375" y="2762250"/>
            <a:ext cx="4667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0E8D2"/>
                </a:solidFill>
                <a:latin typeface="Noto Sans"/>
                <a:ea typeface="Noto Sans"/>
                <a:cs typeface="Noto Sans"/>
              </a:defRPr>
            </a:pPr>
            <a:r>
              <a:rPr sz="2100" b="0">
                <a:solidFill>
                  <a:srgbClr val="F0E8D2"/>
                </a:solidFill>
                <a:latin typeface="Noto Sans"/>
                <a:ea typeface="Noto Sans"/>
                <a:cs typeface="Noto Sans"/>
              </a:rPr>
              <a:t>Mainnet mint verified.</a:t>
            </a:r>
          </a:p>
          <a:p xmlns:a="http://schemas.openxmlformats.org/drawingml/2006/main">
            <a:pPr>
              <a:defRPr sz="2100" b="0">
                <a:solidFill>
                  <a:srgbClr val="F0E8D2"/>
                </a:solidFill>
                <a:latin typeface="Noto Sans"/>
                <a:ea typeface="Noto Sans"/>
                <a:cs typeface="Noto Sans"/>
              </a:defRPr>
            </a:pPr>
            <a:r>
              <a:rPr sz="2100" b="0">
                <a:solidFill>
                  <a:srgbClr val="F0E8D2"/>
                </a:solidFill>
                <a:latin typeface="Noto Sans"/>
                <a:ea typeface="Noto Sans"/>
                <a:cs typeface="Noto Sans"/>
              </a:rPr>
              <a:t>The token is separate from sign-in.</a:t>
            </a:r>
          </a:p>
          <a:p xmlns:a="http://schemas.openxmlformats.org/drawingml/2006/main">
            <a:r>
              <a:t/>
            </a:r>
          </a:p>
          <a:p xmlns:a="http://schemas.openxmlformats.org/drawingml/2006/main">
            <a:pPr>
              <a:defRPr sz="2100" b="0">
                <a:solidFill>
                  <a:srgbClr val="F0E8D2"/>
                </a:solidFill>
                <a:latin typeface="Noto Sans"/>
                <a:ea typeface="Noto Sans"/>
                <a:cs typeface="Noto Sans"/>
              </a:defRPr>
            </a:pPr>
            <a:r>
              <a:rPr sz="2100" b="0">
                <a:solidFill>
                  <a:srgbClr val="F0E8D2"/>
                </a:solidFill>
                <a:latin typeface="Noto Sans"/>
                <a:ea typeface="Noto Sans"/>
                <a:cs typeface="Noto Sans"/>
              </a:rPr>
              <a:t>Gameplay stays open to guests.</a:t>
            </a:r>
          </a:p>
        </p:txBody>
      </p:sp>
      <p:sp>
        <p:nvSpPr>
          <p:cNvPr id="6" name="">
            <a:extLst xmlns:a="http://schemas.openxmlformats.org/drawingml/2006/main">
              <a:ext uri="{FF2B5EF4-FFF2-40B4-BE49-F238E27FC236}">
                <a16:creationId xmlns:a16="http://schemas.microsoft.com/office/drawing/2014/main" id="{4480C860-DBB7-4BAE-AFFE-7BD437ACC165}"/>
              </a:ext>
            </a:extLst>
          </p:cNvPr>
          <p:cNvSpPr>
            <a:spLocks xmlns:a="http://schemas.openxmlformats.org/drawingml/2006/main" noGrp="1"/>
          </p:cNvSpPr>
          <p:nvPr/>
        </p:nvSpPr>
        <p:spPr>
          <a:xfrm xmlns:a="http://schemas.openxmlformats.org/drawingml/2006/main">
            <a:off x="619125" y="5715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0E8D2"/>
                </a:solidFill>
                <a:latin typeface="Noto Sans"/>
                <a:ea typeface="Noto Sans"/>
                <a:cs typeface="Noto Sans"/>
              </a:defRPr>
            </a:pPr>
            <a:r>
              <a:rPr sz="2700" b="1">
                <a:solidFill>
                  <a:srgbClr val="F0E8D2"/>
                </a:solidFill>
                <a:latin typeface="Noto Sans"/>
                <a:ea typeface="Noto Sans"/>
                <a:cs typeface="Noto Sans"/>
              </a:rPr>
              <a:t>Private cloud saves on iDos</a:t>
            </a:r>
          </a:p>
        </p:txBody>
      </p:sp>
    </p:spTree>
    <p:extLst>
      <p:ext uri="{BB962C8B-B14F-4D97-AF65-F5344CB8AC3E}">
        <p14:creationId xmlns:p14="http://schemas.microsoft.com/office/powerpoint/2010/main" val="883817662"/>
      </p:ext>
    </p:extLst>
  </p:cSld>
</p:sld>
</file>

<file path=ppt/slides/slide7.xml><?xml version="1.0" encoding="utf-8"?>
<p:sld xmlns:p="http://schemas.openxmlformats.org/presentationml/2006/main">
  <p:cSld>
    <p:bg>
      <p:bgPr>
        <a:solidFill xmlns:a="http://schemas.openxmlformats.org/drawingml/2006/main">
          <a:srgbClr val="1025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E8D502-35A7-48A2-825A-9CDE352456D4}"/>
              </a:ext>
            </a:extLst>
          </p:cNvPr>
          <p:cNvSpPr>
            <a:spLocks xmlns:a="http://schemas.openxmlformats.org/drawingml/2006/main" noGrp="1"/>
          </p:cNvSpPr>
          <p:nvPr/>
        </p:nvSpPr>
        <p:spPr>
          <a:xfrm xmlns:a="http://schemas.openxmlformats.org/drawingml/2006/main">
            <a:off x="571500" y="400050"/>
            <a:ext cx="1104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0E8D2"/>
                </a:solidFill>
                <a:latin typeface="Noto Sans"/>
                <a:ea typeface="Noto Sans"/>
                <a:cs typeface="Noto Sans"/>
              </a:defRPr>
            </a:pPr>
            <a:r>
              <a:rPr sz="3600" b="1">
                <a:solidFill>
                  <a:srgbClr val="F0E8D2"/>
                </a:solidFill>
                <a:latin typeface="Noto Sans"/>
                <a:ea typeface="Noto Sans"/>
                <a:cs typeface="Noto Sans"/>
              </a:rPr>
              <a:t>The next march</a:t>
            </a:r>
          </a:p>
        </p:txBody>
      </p:sp>
      <p:sp>
        <p:nvSpPr>
          <p:cNvPr id="2" name="">
            <a:extLst xmlns:a="http://schemas.openxmlformats.org/drawingml/2006/main">
              <a:ext uri="{FF2B5EF4-FFF2-40B4-BE49-F238E27FC236}">
                <a16:creationId xmlns:a16="http://schemas.microsoft.com/office/drawing/2014/main" id="{257DBDBE-5E81-4F1E-9555-463B8955B3C4}"/>
              </a:ext>
            </a:extLst>
          </p:cNvPr>
          <p:cNvSpPr>
            <a:spLocks xmlns:a="http://schemas.openxmlformats.org/drawingml/2006/main" noGrp="1"/>
          </p:cNvSpPr>
          <p:nvPr/>
        </p:nvSpPr>
        <p:spPr>
          <a:xfrm xmlns:a="http://schemas.openxmlformats.org/drawingml/2006/main">
            <a:off x="619125" y="1666875"/>
            <a:ext cx="552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D795"/>
                </a:solidFill>
                <a:latin typeface="Noto Sans"/>
                <a:ea typeface="Noto Sans"/>
                <a:cs typeface="Noto Sans"/>
              </a:defRPr>
            </a:pPr>
            <a:r>
              <a:rPr sz="2400" b="1">
                <a:solidFill>
                  <a:srgbClr val="C9D795"/>
                </a:solidFill>
                <a:latin typeface="Noto Sans"/>
                <a:ea typeface="Noto Sans"/>
                <a:cs typeface="Noto Sans"/>
              </a:rPr>
              <a:t>Next development priorities</a:t>
            </a:r>
          </a:p>
        </p:txBody>
      </p:sp>
      <p:sp>
        <p:nvSpPr>
          <p:cNvPr id="3" name="">
            <a:extLst xmlns:a="http://schemas.openxmlformats.org/drawingml/2006/main">
              <a:ext uri="{FF2B5EF4-FFF2-40B4-BE49-F238E27FC236}">
                <a16:creationId xmlns:a16="http://schemas.microsoft.com/office/drawing/2014/main" id="{FE448B2C-E195-41A2-9D92-13103199DA2C}"/>
              </a:ext>
            </a:extLst>
          </p:cNvPr>
          <p:cNvSpPr>
            <a:spLocks xmlns:a="http://schemas.openxmlformats.org/drawingml/2006/main" noGrp="1"/>
          </p:cNvSpPr>
          <p:nvPr/>
        </p:nvSpPr>
        <p:spPr>
          <a:xfrm xmlns:a="http://schemas.openxmlformats.org/drawingml/2006/main">
            <a:off x="619125" y="2667000"/>
            <a:ext cx="6096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0E8D2"/>
                </a:solidFill>
                <a:latin typeface="Noto Sans"/>
                <a:ea typeface="Noto Sans"/>
                <a:cs typeface="Noto Sans"/>
              </a:defRPr>
            </a:pPr>
            <a:r>
              <a:rPr sz="2250" b="0">
                <a:solidFill>
                  <a:srgbClr val="F0E8D2"/>
                </a:solidFill>
                <a:latin typeface="Noto Sans"/>
                <a:ea typeface="Noto Sans"/>
                <a:cs typeface="Noto Sans"/>
              </a:rPr>
              <a:t>Broader device and balance testing</a:t>
            </a:r>
          </a:p>
          <a:p xmlns:a="http://schemas.openxmlformats.org/drawingml/2006/main">
            <a:pPr>
              <a:defRPr sz="2250" b="0">
                <a:solidFill>
                  <a:srgbClr val="F0E8D2"/>
                </a:solidFill>
                <a:latin typeface="Noto Sans"/>
                <a:ea typeface="Noto Sans"/>
                <a:cs typeface="Noto Sans"/>
              </a:defRPr>
            </a:pPr>
            <a:r>
              <a:rPr sz="2250" b="0">
                <a:solidFill>
                  <a:srgbClr val="F0E8D2"/>
                </a:solidFill>
                <a:latin typeface="Noto Sans"/>
                <a:ea typeface="Noto Sans"/>
                <a:cs typeface="Noto Sans"/>
              </a:rPr>
              <a:t>More locations and enemy patterns</a:t>
            </a:r>
          </a:p>
          <a:p xmlns:a="http://schemas.openxmlformats.org/drawingml/2006/main">
            <a:pPr>
              <a:defRPr sz="2250" b="0">
                <a:solidFill>
                  <a:srgbClr val="F0E8D2"/>
                </a:solidFill>
                <a:latin typeface="Noto Sans"/>
                <a:ea typeface="Noto Sans"/>
                <a:cs typeface="Noto Sans"/>
              </a:defRPr>
            </a:pPr>
            <a:r>
              <a:rPr sz="2250" b="0">
                <a:solidFill>
                  <a:srgbClr val="F0E8D2"/>
                </a:solidFill>
                <a:latin typeface="Noto Sans"/>
                <a:ea typeface="Noto Sans"/>
                <a:cs typeface="Noto Sans"/>
              </a:rPr>
              <a:t>Community feedback and new content</a:t>
            </a:r>
          </a:p>
        </p:txBody>
      </p:sp>
      <p:sp>
        <p:nvSpPr>
          <p:cNvPr id="4" name="">
            <a:extLst xmlns:a="http://schemas.openxmlformats.org/drawingml/2006/main">
              <a:ext uri="{FF2B5EF4-FFF2-40B4-BE49-F238E27FC236}">
                <a16:creationId xmlns:a16="http://schemas.microsoft.com/office/drawing/2014/main" id="{D706B9BE-5F5B-43A5-B62E-54E983E96BA7}"/>
              </a:ext>
            </a:extLst>
          </p:cNvPr>
          <p:cNvSpPr>
            <a:spLocks xmlns:a="http://schemas.openxmlformats.org/drawingml/2006/main" noGrp="1"/>
          </p:cNvSpPr>
          <p:nvPr/>
        </p:nvSpPr>
        <p:spPr>
          <a:xfrm xmlns:a="http://schemas.openxmlformats.org/drawingml/2006/main">
            <a:off x="7524750" y="1666875"/>
            <a:ext cx="4095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0E8D2"/>
                </a:solidFill>
                <a:latin typeface="Noto Sans"/>
                <a:ea typeface="Noto Sans"/>
                <a:cs typeface="Noto Sans"/>
              </a:defRPr>
            </a:pPr>
            <a:r>
              <a:rPr sz="2700" b="1">
                <a:solidFill>
                  <a:srgbClr val="F0E8D2"/>
                </a:solidFill>
                <a:latin typeface="Noto Sans"/>
                <a:ea typeface="Noto Sans"/>
                <a:cs typeface="Noto Sans"/>
              </a:rPr>
              <a:t>Play the game</a:t>
            </a:r>
          </a:p>
          <a:p xmlns:a="http://schemas.openxmlformats.org/drawingml/2006/main">
            <a:pPr>
              <a:defRPr sz="2700" b="1">
                <a:solidFill>
                  <a:srgbClr val="F0E8D2"/>
                </a:solidFill>
                <a:latin typeface="Noto Sans"/>
                <a:ea typeface="Noto Sans"/>
                <a:cs typeface="Noto Sans"/>
              </a:defRPr>
            </a:pPr>
            <a:r>
              <a:rPr sz="2700" b="1">
                <a:solidFill>
                  <a:srgbClr val="F0E8D2"/>
                </a:solidFill>
                <a:latin typeface="Noto Sans"/>
                <a:ea typeface="Noto Sans"/>
                <a:cs typeface="Noto Sans"/>
              </a:rPr>
              <a:t>Explore the source</a:t>
            </a:r>
          </a:p>
        </p:txBody>
      </p:sp>
      <p:sp>
        <p:nvSpPr>
          <p:cNvPr id="5" name="">
            <a:extLst xmlns:a="http://schemas.openxmlformats.org/drawingml/2006/main">
              <a:ext uri="{FF2B5EF4-FFF2-40B4-BE49-F238E27FC236}">
                <a16:creationId xmlns:a16="http://schemas.microsoft.com/office/drawing/2014/main" id="{414C2361-5055-40A8-A60F-49A62FAA36DA}"/>
              </a:ext>
            </a:extLst>
          </p:cNvPr>
          <p:cNvSpPr>
            <a:spLocks xmlns:a="http://schemas.openxmlformats.org/drawingml/2006/main" noGrp="1"/>
          </p:cNvSpPr>
          <p:nvPr/>
        </p:nvSpPr>
        <p:spPr>
          <a:xfrm xmlns:a="http://schemas.openxmlformats.org/drawingml/2006/main">
            <a:off x="7524750" y="3286125"/>
            <a:ext cx="4095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9D795"/>
                </a:solidFill>
                <a:latin typeface="Noto Sans"/>
                <a:ea typeface="Noto Sans"/>
                <a:cs typeface="Noto Sans"/>
              </a:defRPr>
            </a:pPr>
            <a:r>
              <a:rPr sz="1800" b="0">
                <a:solidFill>
                  <a:srgbClr val="C9D795"/>
                </a:solidFill>
                <a:latin typeface="Noto Sans"/>
                <a:ea typeface="Noto Sans"/>
                <a:cs typeface="Noto Sans"/>
              </a:rPr>
              <a:t>idosgames.com/app/FYVPZFCO</a:t>
            </a:r>
          </a:p>
          <a:p xmlns:a="http://schemas.openxmlformats.org/drawingml/2006/main">
            <a:r>
              <a:t/>
            </a:r>
          </a:p>
          <a:p xmlns:a="http://schemas.openxmlformats.org/drawingml/2006/main">
            <a:pPr>
              <a:defRPr sz="1800" b="0">
                <a:solidFill>
                  <a:srgbClr val="C9D795"/>
                </a:solidFill>
                <a:latin typeface="Noto Sans"/>
                <a:ea typeface="Noto Sans"/>
                <a:cs typeface="Noto Sans"/>
              </a:defRPr>
            </a:pPr>
            <a:r>
              <a:rPr sz="1800" b="0">
                <a:solidFill>
                  <a:srgbClr val="C9D795"/>
                </a:solidFill>
                <a:latin typeface="Noto Sans"/>
                <a:ea typeface="Noto Sans"/>
                <a:cs typeface="Noto Sans"/>
              </a:rPr>
              <a:t>github.com/meatPigeon/</a:t>
            </a:r>
          </a:p>
          <a:p xmlns:a="http://schemas.openxmlformats.org/drawingml/2006/main">
            <a:pPr>
              <a:defRPr sz="1800" b="0">
                <a:solidFill>
                  <a:srgbClr val="C9D795"/>
                </a:solidFill>
                <a:latin typeface="Noto Sans"/>
                <a:ea typeface="Noto Sans"/>
                <a:cs typeface="Noto Sans"/>
              </a:defRPr>
            </a:pPr>
            <a:r>
              <a:rPr sz="1800" b="0">
                <a:solidFill>
                  <a:srgbClr val="C9D795"/>
                </a:solidFill>
                <a:latin typeface="Noto Sans"/>
                <a:ea typeface="Noto Sans"/>
                <a:cs typeface="Noto Sans"/>
              </a:rPr>
              <a:t>survive-vampiror-web</a:t>
            </a:r>
          </a:p>
        </p:txBody>
      </p:sp>
      <p:sp>
        <p:nvSpPr>
          <p:cNvPr id="6" name="">
            <a:extLst xmlns:a="http://schemas.openxmlformats.org/drawingml/2006/main">
              <a:ext uri="{FF2B5EF4-FFF2-40B4-BE49-F238E27FC236}">
                <a16:creationId xmlns:a16="http://schemas.microsoft.com/office/drawing/2014/main" id="{2BFFCD30-79A1-41C2-873C-FBE218466DD5}"/>
              </a:ext>
            </a:extLst>
          </p:cNvPr>
          <p:cNvSpPr>
            <a:spLocks xmlns:a="http://schemas.openxmlformats.org/drawingml/2006/main" noGrp="1"/>
          </p:cNvSpPr>
          <p:nvPr/>
        </p:nvSpPr>
        <p:spPr>
          <a:xfrm xmlns:a="http://schemas.openxmlformats.org/drawingml/2006/main">
            <a:off x="619125" y="58102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0E8D2"/>
                </a:solidFill>
                <a:latin typeface="Noto Sans"/>
                <a:ea typeface="Noto Sans"/>
                <a:cs typeface="Noto Sans"/>
              </a:defRPr>
            </a:pPr>
            <a:r>
              <a:rPr sz="2175" b="0">
                <a:solidFill>
                  <a:srgbClr val="F0E8D2"/>
                </a:solidFill>
                <a:latin typeface="Noto Sans"/>
                <a:ea typeface="Noto Sans"/>
                <a:cs typeface="Noto Sans"/>
              </a:rPr>
              <a:t>Seeking playtest feedback and a community for the horde</a:t>
            </a:r>
          </a:p>
        </p:txBody>
      </p:sp>
    </p:spTree>
    <p:extLst>
      <p:ext uri="{BB962C8B-B14F-4D97-AF65-F5344CB8AC3E}">
        <p14:creationId xmlns:p14="http://schemas.microsoft.com/office/powerpoint/2010/main" val="1611101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2026-10-11T18:57:38.7950000Z</dcterms:created>
  <dcterms:modified xsi:type="dcterms:W3CDTF">2026-10-11T18:57:38.7950000Z</dcterms:modified>
</coreProperties>
</file>